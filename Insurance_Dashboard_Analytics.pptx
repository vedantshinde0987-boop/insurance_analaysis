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77" r:id="rId7"/>
    <p:sldId id="278" r:id="rId8"/>
    <p:sldId id="279" r:id="rId9"/>
    <p:sldId id="266" r:id="rId10"/>
    <p:sldId id="274" r:id="rId11"/>
    <p:sldId id="275" r:id="rId12"/>
    <p:sldId id="276" r:id="rId13"/>
    <p:sldId id="270" r:id="rId14"/>
    <p:sldId id="271" r:id="rId15"/>
    <p:sldId id="272" r:id="rId16"/>
    <p:sldId id="260" r:id="rId17"/>
    <p:sldId id="262" r:id="rId18"/>
    <p:sldId id="264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4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5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3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2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8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5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6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5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444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2327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46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82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9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528" y="4099385"/>
            <a:ext cx="6056671" cy="2262085"/>
          </a:xfrm>
        </p:spPr>
        <p:txBody>
          <a:bodyPr>
            <a:normAutofit/>
          </a:bodyPr>
          <a:lstStyle/>
          <a:p>
            <a:r>
              <a:rPr lang="en-IN" sz="2000" dirty="0"/>
              <a:t>-Kunal Modi</a:t>
            </a:r>
            <a:br>
              <a:rPr lang="en-IN" sz="2000" dirty="0"/>
            </a:br>
            <a:r>
              <a:rPr lang="en-IN" sz="2000" dirty="0"/>
              <a:t>-Shubham Halder</a:t>
            </a:r>
            <a:br>
              <a:rPr lang="en-IN" sz="2000" dirty="0"/>
            </a:br>
            <a:r>
              <a:rPr lang="en-IN" sz="2000" dirty="0"/>
              <a:t>-Vedant Shinde</a:t>
            </a:r>
            <a:br>
              <a:rPr lang="en-IN" sz="2000" dirty="0"/>
            </a:br>
            <a:r>
              <a:rPr lang="en-IN" sz="2000" dirty="0"/>
              <a:t>-Shreyaa MR</a:t>
            </a:r>
            <a:br>
              <a:rPr lang="en-IN" sz="2000" dirty="0"/>
            </a:br>
            <a:r>
              <a:rPr lang="en-IN" sz="2000" dirty="0"/>
              <a:t>- Mekala Abinash</a:t>
            </a:r>
            <a:br>
              <a:rPr lang="en-IN" sz="2000" dirty="0"/>
            </a:br>
            <a:endParaRPr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C17B3B-2CCE-7205-7893-F757E6D0A0D0}"/>
              </a:ext>
            </a:extLst>
          </p:cNvPr>
          <p:cNvSpPr txBox="1">
            <a:spLocks/>
          </p:cNvSpPr>
          <p:nvPr/>
        </p:nvSpPr>
        <p:spPr>
          <a:xfrm>
            <a:off x="609600" y="258030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Insurance Dashboard Analytics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performance, revenue, and customer insights to support decision-making</a:t>
            </a:r>
            <a:r>
              <a:rPr lang="en-IN" dirty="0"/>
              <a:t> for Senior Management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Premium</a:t>
            </a:r>
          </a:p>
          <a:p>
            <a:pPr marL="0" indent="0">
              <a:buNone/>
            </a:pPr>
            <a:r>
              <a:rPr dirty="0"/>
              <a:t>• Policy Count</a:t>
            </a:r>
          </a:p>
          <a:p>
            <a:pPr marL="0" indent="0">
              <a:buNone/>
            </a:pPr>
            <a:r>
              <a:rPr dirty="0"/>
              <a:t>•</a:t>
            </a:r>
            <a:r>
              <a:rPr lang="en-IN" dirty="0"/>
              <a:t> Budget vs Achieved</a:t>
            </a:r>
          </a:p>
          <a:p>
            <a:pPr marL="0" indent="0">
              <a:buNone/>
            </a:pPr>
            <a:r>
              <a:rPr lang="en-IN" dirty="0"/>
              <a:t>• Meeting</a:t>
            </a:r>
          </a:p>
          <a:p>
            <a:pPr marL="0" indent="0">
              <a:buNone/>
            </a:pPr>
            <a:r>
              <a:rPr lang="en-IN" dirty="0"/>
              <a:t>• Top 4 opportunity by Revenue</a:t>
            </a:r>
          </a:p>
          <a:p>
            <a:pPr marL="0" indent="0">
              <a:buNone/>
            </a:pPr>
            <a:r>
              <a:rPr lang="en-IN" dirty="0"/>
              <a:t>• Product wise revenue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D2DE-581C-DBB6-2BF1-9BBD22ACF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9F9A-458B-D5FF-CE37-85AA88ED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9427"/>
          </a:xfrm>
        </p:spPr>
        <p:txBody>
          <a:bodyPr>
            <a:normAutofit/>
          </a:bodyPr>
          <a:lstStyle/>
          <a:p>
            <a:r>
              <a:rPr dirty="0"/>
              <a:t>Dashboard </a:t>
            </a:r>
            <a:r>
              <a:rPr lang="en-IN" dirty="0"/>
              <a:t>–Excel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CCF50-46B0-5C83-EDA3-93681C72A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5165724"/>
          </a:xfrm>
        </p:spPr>
        <p:txBody>
          <a:bodyPr>
            <a:normAutofit/>
          </a:bodyPr>
          <a:lstStyle/>
          <a:p>
            <a:r>
              <a:rPr lang="en-IN" sz="2000" dirty="0"/>
              <a:t>Excel is used for cleaning the Raw data and also help in converting the raw data into dynamic dashboards which will help the team removing the insights from the dashboard.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D9759-B49D-3A33-A141-A547326D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2389239"/>
            <a:ext cx="7865807" cy="419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0265"/>
          </a:xfrm>
        </p:spPr>
        <p:txBody>
          <a:bodyPr>
            <a:normAutofit fontScale="90000"/>
          </a:bodyPr>
          <a:lstStyle/>
          <a:p>
            <a:r>
              <a:rPr dirty="0"/>
              <a:t>Dashboard </a:t>
            </a:r>
            <a:r>
              <a:rPr lang="en-IN" dirty="0"/>
              <a:t>–Power BI</a:t>
            </a:r>
            <a:endParaRPr dirty="0"/>
          </a:p>
        </p:txBody>
      </p:sp>
      <p:pic>
        <p:nvPicPr>
          <p:cNvPr id="8" name="Picture 7" descr="The image is a dashboard displaying various data visualizations, including metrics such as revenue, opportunity, and conversion rates, with filters for different categories and a section for DAX formulas.&#10;&#10;AI-generated content may be incorrect.">
            <a:extLst>
              <a:ext uri="{FF2B5EF4-FFF2-40B4-BE49-F238E27FC236}">
                <a16:creationId xmlns:a16="http://schemas.microsoft.com/office/drawing/2014/main" id="{1D218B05-FCF5-BE4F-581B-F8F59F06D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1" t="20400" r="30800" b="13360"/>
          <a:stretch>
            <a:fillRect/>
          </a:stretch>
        </p:blipFill>
        <p:spPr>
          <a:xfrm>
            <a:off x="262328" y="1047087"/>
            <a:ext cx="7862341" cy="5273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insurance analytics report pages include:</a:t>
            </a:r>
          </a:p>
          <a:p>
            <a:pPr lvl="1"/>
            <a:r>
              <a:t>KPI</a:t>
            </a:r>
          </a:p>
          <a:p>
            <a:pPr lvl="1"/>
            <a:r>
              <a:t>BAI (Budget Achievement Insights)</a:t>
            </a:r>
          </a:p>
          <a:p>
            <a:pPr lvl="1"/>
            <a:r>
              <a:t>Meeting</a:t>
            </a:r>
          </a:p>
          <a:p>
            <a:pPr lvl="1"/>
            <a:r>
              <a:t>Opportunity</a:t>
            </a:r>
          </a:p>
          <a:p>
            <a:pPr lvl="1"/>
            <a:r>
              <a:t>Stage Funnel</a:t>
            </a:r>
          </a:p>
          <a:p>
            <a:pPr lvl="1"/>
            <a:r>
              <a:t>Invoice</a:t>
            </a:r>
          </a:p>
          <a:p>
            <a:pPr lvl="1"/>
            <a:r>
              <a:t>Product</a:t>
            </a:r>
          </a:p>
          <a:p>
            <a:pPr lvl="1"/>
            <a:r>
              <a:t>Dashboard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Funnel &amp; Opportunity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insurance sales pipeline:</a:t>
            </a:r>
          </a:p>
          <a:p>
            <a:pPr lvl="1"/>
            <a:r>
              <a:t>Opportunity conversion rate</a:t>
            </a:r>
          </a:p>
          <a:p>
            <a:pPr lvl="1"/>
            <a:r>
              <a:t>Stage funnel performance</a:t>
            </a:r>
          </a:p>
          <a:p>
            <a:pPr lvl="1"/>
            <a:r>
              <a:t>Invoice generation tracking</a:t>
            </a:r>
          </a:p>
          <a:p>
            <a:pPr lvl="1"/>
            <a:r>
              <a:t>Meeting impact on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 monitored:</a:t>
            </a:r>
          </a:p>
          <a:p>
            <a:pPr lvl="1"/>
            <a:r>
              <a:t>Revenue achievement vs target</a:t>
            </a:r>
          </a:p>
          <a:p>
            <a:pPr lvl="1"/>
            <a:r>
              <a:t>Agent performance indicators</a:t>
            </a:r>
          </a:p>
          <a:p>
            <a:pPr lvl="1"/>
            <a:r>
              <a:t>Customer acquisition insights</a:t>
            </a:r>
          </a:p>
          <a:p>
            <a:pPr lvl="1"/>
            <a:r>
              <a:t>Product performance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BFAD-7E63-20E2-1D9D-19CCE223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D239-8EDF-7075-2234-9C958E94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47713" cy="1320800"/>
          </a:xfrm>
        </p:spPr>
        <p:txBody>
          <a:bodyPr/>
          <a:lstStyle/>
          <a:p>
            <a:r>
              <a:rPr dirty="0"/>
              <a:t>Dashboard </a:t>
            </a:r>
            <a:r>
              <a:rPr lang="en-IN" dirty="0"/>
              <a:t>–Tableau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9AD64-E1B5-EFA4-9648-C1A3D7CB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5" y="660400"/>
            <a:ext cx="8332266" cy="500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6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Insurance performance tracking using multiple analytical worksheets:</a:t>
            </a:r>
          </a:p>
          <a:p>
            <a:pPr lvl="1"/>
            <a:r>
              <a:t>Budget vs Achieved</a:t>
            </a:r>
          </a:p>
          <a:p>
            <a:pPr lvl="1"/>
            <a:r>
              <a:t>Budget vs Achieved vs Invoice</a:t>
            </a:r>
          </a:p>
          <a:p>
            <a:pPr lvl="1"/>
            <a:r>
              <a:t>KPI Open</a:t>
            </a:r>
          </a:p>
          <a:p>
            <a:pPr lvl="1"/>
            <a:r>
              <a:t>KPI Opportunity</a:t>
            </a:r>
          </a:p>
          <a:p>
            <a:pPr lvl="1"/>
            <a:r>
              <a:t>Meetings Analysis</a:t>
            </a:r>
          </a:p>
          <a:p>
            <a:pPr lvl="1"/>
            <a:r>
              <a:t>Policy Status</a:t>
            </a:r>
          </a:p>
          <a:p>
            <a:pPr lvl="1"/>
            <a:r>
              <a:t>Product Wise Revenue</a:t>
            </a:r>
          </a:p>
          <a:p>
            <a:pPr lvl="1"/>
            <a:r>
              <a:t>Stage Wise Revenue</a:t>
            </a:r>
          </a:p>
          <a:p>
            <a:pPr lvl="1"/>
            <a:r>
              <a:t>Top 4 Revenue 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 (Tableau)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insurance revenue performance using:</a:t>
            </a:r>
          </a:p>
          <a:p>
            <a:pPr lvl="1"/>
            <a:r>
              <a:t>Product Wise Revenue</a:t>
            </a:r>
          </a:p>
          <a:p>
            <a:pPr lvl="1"/>
            <a:r>
              <a:t>Stage Wise Revenue</a:t>
            </a:r>
          </a:p>
          <a:p>
            <a:pPr lvl="1"/>
            <a:r>
              <a:t>Top Revenue Contributors</a:t>
            </a:r>
          </a:p>
          <a:p>
            <a:pPr lvl="1"/>
            <a:r>
              <a:t>Budget vs Achieved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and Policy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helps monitor:</a:t>
            </a:r>
          </a:p>
          <a:p>
            <a:pPr lvl="1"/>
            <a:r>
              <a:t>Open KPIs</a:t>
            </a:r>
          </a:p>
          <a:p>
            <a:pPr lvl="1"/>
            <a:r>
              <a:t>Opportunity KPIs</a:t>
            </a:r>
          </a:p>
          <a:p>
            <a:pPr lvl="1"/>
            <a:r>
              <a:t>Policy Status</a:t>
            </a:r>
          </a:p>
          <a:p>
            <a:pPr lvl="1"/>
            <a:r>
              <a:t>Meeting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</a:t>
            </a:r>
            <a:r>
              <a:rPr lang="en-IN" dirty="0"/>
              <a:t> - SQL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Database Name: insurance_db</a:t>
            </a:r>
          </a:p>
          <a:p>
            <a:r>
              <a:t>Tables Used:</a:t>
            </a:r>
          </a:p>
          <a:p>
            <a:r>
              <a:t>• brokerage</a:t>
            </a:r>
          </a:p>
          <a:p>
            <a:r>
              <a:t>• invoice</a:t>
            </a:r>
          </a:p>
          <a:p>
            <a:r>
              <a:t>• opportunity</a:t>
            </a:r>
          </a:p>
          <a:p>
            <a:r>
              <a:t>• meeting</a:t>
            </a:r>
          </a:p>
          <a:p>
            <a:r>
              <a:t>• fees</a:t>
            </a:r>
          </a:p>
          <a:p>
            <a:r>
              <a:t>• individual_budget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any budget&#10;&#10;AI-generated content may be incorrect.">
            <a:extLst>
              <a:ext uri="{FF2B5EF4-FFF2-40B4-BE49-F238E27FC236}">
                <a16:creationId xmlns:a16="http://schemas.microsoft.com/office/drawing/2014/main" id="{F146497E-682C-D3A1-AB59-CA05C576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8" y="274638"/>
            <a:ext cx="6788944" cy="5851525"/>
          </a:xfrm>
        </p:spPr>
      </p:pic>
    </p:spTree>
    <p:extLst>
      <p:ext uri="{BB962C8B-B14F-4D97-AF65-F5344CB8AC3E}">
        <p14:creationId xmlns:p14="http://schemas.microsoft.com/office/powerpoint/2010/main" val="343186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7396"/>
            <a:ext cx="6480749" cy="904407"/>
          </a:xfrm>
        </p:spPr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79" y="776990"/>
            <a:ext cx="6061024" cy="1751843"/>
          </a:xfrm>
        </p:spPr>
        <p:txBody>
          <a:bodyPr/>
          <a:lstStyle/>
          <a:p>
            <a:r>
              <a:rPr dirty="0"/>
              <a:t>• Analyze insurance business performance</a:t>
            </a:r>
          </a:p>
          <a:p>
            <a:r>
              <a:rPr dirty="0"/>
              <a:t>• Track meetings, invoices &amp; opportunities</a:t>
            </a:r>
          </a:p>
          <a:p>
            <a:r>
              <a:rPr dirty="0"/>
              <a:t>• Measure policy status &amp; revenue KPIs</a:t>
            </a:r>
          </a:p>
          <a:p>
            <a:r>
              <a:rPr dirty="0"/>
              <a:t>• Support business decision making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98143" y="3057653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Data Preparation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3999" y="3730381"/>
            <a:ext cx="6347714" cy="2353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Renamed cleaned tables</a:t>
            </a:r>
          </a:p>
          <a:p>
            <a:r>
              <a:rPr lang="en-US" dirty="0"/>
              <a:t>• Modified data types (Amount → Float)</a:t>
            </a:r>
          </a:p>
          <a:p>
            <a:r>
              <a:rPr lang="en-US" dirty="0"/>
              <a:t>• Set Primary Key (</a:t>
            </a:r>
            <a:r>
              <a:rPr lang="en-US" dirty="0" err="1"/>
              <a:t>account_exe_id</a:t>
            </a:r>
            <a:r>
              <a:rPr lang="en-US" dirty="0"/>
              <a:t>)</a:t>
            </a:r>
          </a:p>
          <a:p>
            <a:r>
              <a:rPr lang="en-US" dirty="0"/>
              <a:t>• Established Foreign Key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649"/>
            <a:ext cx="6347713" cy="1320800"/>
          </a:xfrm>
        </p:spPr>
        <p:txBody>
          <a:bodyPr/>
          <a:lstStyle/>
          <a:p>
            <a:r>
              <a:rPr dirty="0"/>
              <a:t>Meetings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998" y="687049"/>
            <a:ext cx="6225916" cy="1320801"/>
          </a:xfrm>
        </p:spPr>
        <p:txBody>
          <a:bodyPr/>
          <a:lstStyle/>
          <a:p>
            <a:r>
              <a:t>• Total meetings conducted year‑wise</a:t>
            </a:r>
          </a:p>
          <a:p>
            <a:r>
              <a:t>• Meetings handled by each executive</a:t>
            </a:r>
          </a:p>
          <a:p>
            <a:r>
              <a:t>• Helps measure employee engagement &amp; activity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23539" y="3263275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Invoice Analysis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43527" y="4089400"/>
            <a:ext cx="5683149" cy="2383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Number of invoices generated by executives</a:t>
            </a:r>
          </a:p>
          <a:p>
            <a:r>
              <a:rPr lang="en-US" dirty="0"/>
              <a:t>• Identify top performing employees</a:t>
            </a:r>
          </a:p>
          <a:p>
            <a:r>
              <a:rPr lang="en-US" dirty="0"/>
              <a:t>• Track revenue generation process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061024" cy="709534"/>
          </a:xfrm>
        </p:spPr>
        <p:txBody>
          <a:bodyPr/>
          <a:lstStyle/>
          <a:p>
            <a:r>
              <a:rPr dirty="0"/>
              <a:t>Opportunity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85" y="709534"/>
            <a:ext cx="5221575" cy="1571961"/>
          </a:xfrm>
        </p:spPr>
        <p:txBody>
          <a:bodyPr/>
          <a:lstStyle/>
          <a:p>
            <a:r>
              <a:rPr dirty="0"/>
              <a:t>• Revenue grouped by opportunity stage</a:t>
            </a:r>
          </a:p>
          <a:p>
            <a:r>
              <a:rPr dirty="0"/>
              <a:t>• Identify high value opportunities</a:t>
            </a:r>
          </a:p>
          <a:p>
            <a:r>
              <a:rPr dirty="0"/>
              <a:t>• Track sales pipeline performance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98143" y="3002688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Product Performance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643920" y="3691232"/>
            <a:ext cx="6347713" cy="176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• Number of opportunities product‑wise</a:t>
            </a:r>
          </a:p>
          <a:p>
            <a:r>
              <a:rPr lang="en-US"/>
              <a:t>• Policies count by product group</a:t>
            </a:r>
          </a:p>
          <a:p>
            <a:r>
              <a:rPr lang="en-US"/>
              <a:t>• Helps understand popular insurance products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KPI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 vs Inactive policies</a:t>
            </a:r>
          </a:p>
          <a:p>
            <a:r>
              <a:t>• Total number of clients</a:t>
            </a:r>
          </a:p>
          <a:p>
            <a:r>
              <a:t>• Policies expiring in current year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54AA8-6C87-E796-ED4A-14343B48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CB02-7F33-CBBD-9BF0-E0923BF7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19E50-C9E5-F3C9-1525-B23EAFA9F617}"/>
              </a:ext>
            </a:extLst>
          </p:cNvPr>
          <p:cNvSpPr txBox="1"/>
          <p:nvPr/>
        </p:nvSpPr>
        <p:spPr>
          <a:xfrm>
            <a:off x="555523" y="1658401"/>
            <a:ext cx="7693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Strong pipeline but weak conversion:</a:t>
            </a:r>
            <a:r>
              <a:rPr lang="en-US" dirty="0"/>
              <a:t> High opportunities and placed revenue are not translating into invoices → major revenue leakage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B3CB0-9251-7406-AF5F-759DE12BBADA}"/>
              </a:ext>
            </a:extLst>
          </p:cNvPr>
          <p:cNvSpPr txBox="1"/>
          <p:nvPr/>
        </p:nvSpPr>
        <p:spPr>
          <a:xfrm>
            <a:off x="555523" y="2373073"/>
            <a:ext cx="7939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Performance concentration risk:</a:t>
            </a:r>
            <a:r>
              <a:rPr lang="en-US" dirty="0"/>
              <a:t> Revenue heavily dependent on a few products and top executives → lack of diversification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1736A-3753-4A08-0732-FCB1B08BA5D4}"/>
              </a:ext>
            </a:extLst>
          </p:cNvPr>
          <p:cNvSpPr txBox="1"/>
          <p:nvPr/>
        </p:nvSpPr>
        <p:spPr>
          <a:xfrm>
            <a:off x="555523" y="2969792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Sales inefficiency in funnel:</a:t>
            </a:r>
            <a:r>
              <a:rPr lang="en-US" dirty="0"/>
              <a:t> Significant drop from qualification to closure despite high meetings → process improvement needed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19FA17-B34B-CF3D-79E5-4F839BB73D0D}"/>
              </a:ext>
            </a:extLst>
          </p:cNvPr>
          <p:cNvSpPr txBox="1"/>
          <p:nvPr/>
        </p:nvSpPr>
        <p:spPr>
          <a:xfrm>
            <a:off x="555523" y="3596007"/>
            <a:ext cx="8032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Inconsistent revenue trends:</a:t>
            </a:r>
            <a:r>
              <a:rPr lang="en-IN" dirty="0"/>
              <a:t> Fluctuations across months indicate unstable sales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6DCD8D-97FE-977E-A4F8-A11E9E1C4655}"/>
              </a:ext>
            </a:extLst>
          </p:cNvPr>
          <p:cNvSpPr txBox="1"/>
          <p:nvPr/>
        </p:nvSpPr>
        <p:spPr>
          <a:xfrm>
            <a:off x="555522" y="4281216"/>
            <a:ext cx="7693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Clear growth opportunity:</a:t>
            </a:r>
            <a:r>
              <a:rPr lang="en-US" dirty="0"/>
              <a:t> Improving cross-sell, conversion rates, and team productivity can significantly boost overall revenue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175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BB8F-FBEB-6C33-CA63-A91B44A7A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52A20-CB0B-E41A-C908-6600CBEF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33135"/>
            <a:ext cx="82296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60745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519</Words>
  <Application>Microsoft Office PowerPoint</Application>
  <PresentationFormat>On-screen Show (4:3)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-Kunal Modi -Shubham Halder -Vedant Shinde -Shreyaa MR - Mekala Abinash </vt:lpstr>
      <vt:lpstr>Objective</vt:lpstr>
      <vt:lpstr>Key Metrics</vt:lpstr>
      <vt:lpstr>Dashboard –Excel</vt:lpstr>
      <vt:lpstr>Dashboard –Power BI</vt:lpstr>
      <vt:lpstr>Power BI Dashboard Overview</vt:lpstr>
      <vt:lpstr>Sales Funnel &amp; Opportunity Insights</vt:lpstr>
      <vt:lpstr>KPI Performance Analysis</vt:lpstr>
      <vt:lpstr>Dashboard –Tableau</vt:lpstr>
      <vt:lpstr>Tableau Dashboard Overview</vt:lpstr>
      <vt:lpstr>Revenue Analysis (Tableau)</vt:lpstr>
      <vt:lpstr>KPI and Policy Monitoring</vt:lpstr>
      <vt:lpstr>Database - SQL</vt:lpstr>
      <vt:lpstr>PowerPoint Presentation</vt:lpstr>
      <vt:lpstr>Project Objective</vt:lpstr>
      <vt:lpstr>Meetings Analysis</vt:lpstr>
      <vt:lpstr>Opportunity Funnel</vt:lpstr>
      <vt:lpstr>Policy KPI Analysis</vt:lpstr>
      <vt:lpstr>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 shinde</cp:lastModifiedBy>
  <cp:revision>5</cp:revision>
  <dcterms:created xsi:type="dcterms:W3CDTF">2013-01-27T09:14:16Z</dcterms:created>
  <dcterms:modified xsi:type="dcterms:W3CDTF">2026-03-17T15:32:21Z</dcterms:modified>
  <cp:category/>
</cp:coreProperties>
</file>